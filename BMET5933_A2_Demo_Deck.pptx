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5" r:id="rId16"/>
    <p:sldId id="259" r:id="rId5"/>
    <p:sldId id="260" r:id="rId6"/>
    <p:sldId id="261" r:id="rId7"/>
    <p:sldId id="266" r:id="rId17"/>
    <p:sldId id="267" r:id="rId18"/>
    <p:sldId id="262" r:id="rId8"/>
    <p:sldId id="268" r:id="rId19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BMET5933 · ASSIGNMENT 2 · DEMONSTRATION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" y="13716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Kidney CT Classification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05840" y="23317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of Classical Machine Learning and Deep Learning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Lee</a:t>
            </a:r>
            <a:pPr indent="0" marL="0">
              <a:buNone/>
            </a:pPr>
            <a:r>
              <a:rPr lang="en-US" sz="18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Wu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40690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et al. 2022 kidney CT benchmark · 11,929 images · 4 classes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and 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SHARED INFRASTRUCTURE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023360" cy="338328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11,929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after dedup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468880" y="2011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70/15/15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46888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images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benchmark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581912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10912" y="1490472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et al. 2022 · 12,446 abdominal CT slices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911096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010912" y="1819656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removed 512 duplicate slices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224028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10912" y="2148840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Cyst, Normal, Stone, Tumour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2834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strategy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3273552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10912" y="3182112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by class (≈41/30/18/11 %)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3602736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10912" y="3511296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50-slice filename buckets as pseudo-patients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393192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10912" y="3840480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touched once per final model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and Evaluation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SHARED INFRASTRUCTURE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preprocessing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13232" y="1554480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via PIL, grayscale convert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56816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65376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center-crop, resize 256 × 256 bilinear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67712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13232" y="2176272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inputs to both pipelines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3232" y="248716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Per-pipeline transforms downstream: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2798064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CLAHE (classical)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13232" y="3108960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ImageNet-stat normalise + 3-channel (DL)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1143000"/>
            <a:ext cx="27432" cy="338328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46320" y="1143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846320" y="164592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02352" y="1554480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primary metric (4-class imbalance)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956816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102352" y="1865376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precision, recall, F1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267712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102352" y="2176272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95 % CI, 1,000 replicates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578608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102352" y="2487168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McNemar's exact binomial test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46320" y="2889504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102352" y="2798064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+ one-vs-rest ROC-AUC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94360" y="4462272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Silicon CPU for classical training · NVIDIA A100 / H100 in bfloat16 for deep learning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CLASSICAL ML · ANTHONY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247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138-dim handcrafted feature vector</a:t>
            </a:r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 256 × 256 grayscale image, computed after CLAHE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023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73152" cy="12801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89280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 statistics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2402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std, skewness, kurtosis, entropy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10th – 90th percentile of intensity distribution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783080"/>
            <a:ext cx="73152" cy="12801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189280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GLCM · Haralick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64608" y="22402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1, 3 px · four angles (0°/45°/90°/135°)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properties averaged for rotation invariance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4023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46120"/>
            <a:ext cx="73152" cy="12801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3558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LBP · Multi-scale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370332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radii R = 1, 2, 3 with P = 8, 16, 24 neighbours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· medium · coarse local texture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3246120"/>
            <a:ext cx="4023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46120"/>
            <a:ext cx="73152" cy="1280160"/>
          </a:xfrm>
          <a:prstGeom prst="rect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33558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Gabor filter bank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64608" y="370332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frequencies (0.1 – 0.4) × four orientations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and std of magnitude response — 32 features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raw radiodensity features (pre-CLAHE) and 5 bright-region morphological features round out the 138-dim vector.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Model Selection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CLASSICAL ML · ANTHONY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508760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fitted on train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11096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81965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 / poly / linear) and Random Forest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055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class weighting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32888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441448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BorderlineSMOTE-1 for RF  (k = 5, m = 10)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43784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7523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CV, macro-F1 selection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393192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37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5844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RBF-kernel SVM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" y="40416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1000,   γ = 0.001       (retrained on train + val)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0" y="11430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0" y="1508760"/>
            <a:ext cx="4389120" cy="3246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600200"/>
            <a:ext cx="4114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sklearn.svm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SVC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sklearn.preprocessing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StandardScaler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imblearn.over_sampling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BorderlineSMOTE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 = StandardScaler().fit_transform(X_train)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8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Borderline-SMOTE only for the RF baseline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 = BorderlineSMOTE(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k_neighbors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=5,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m_neighbors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=10)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Xb, yb = sm.fit_resample(Xs, y_train)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8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Grid-search winner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svm = SVC(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'rbf'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=1000,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gamma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=0.001,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class_weight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'balanced'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svm.fit(Xs, y_train)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Selection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DEEP LEARNING · JAMES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0233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4023360" cy="4114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07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 V2 Base · Primary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657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M parameters · 384 × 384 input
ImageNet-22k → 1k pretrained · 87.7 % top-1
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CNN: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depthwise-sep convs · 7 × 7 kernels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· GELU · MAE pretraining · GRN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40233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143000"/>
            <a:ext cx="4023360" cy="411480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2070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· Control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645920"/>
            <a:ext cx="3657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 parameters · 224 × 224 input
ImageNet-1k pretrained · 77.3 % top-1
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Compound-scaled baseline: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× pretraining effect on the same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and protocol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86868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0448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STRONG IMAGENET SOURCE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Kornblith et al. report Pearson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0.96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Spearman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0.94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between ImageNet top-1 and downstream transfer macro-F1 — the relationship holds under both linear and rank-based tests.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Transfer Learning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DEEP LEARNING · JAMES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7772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08760"/>
            <a:ext cx="91440" cy="777240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· HEAD WARMUP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frozen · 5 epochs · Adam @ 1e-3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931920" cy="14630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77440"/>
            <a:ext cx="91440" cy="14630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· FINE-TUNE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stage unfrozen · 60 epochs · AdamW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LR, 5-ep warmup, peak 1e-5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 5e-2 (ConvNeXt) / 1e-4 (EffNet)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Inverse-frequency class weights (Stone ≈3.7× Normal)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hflip · ±15° rot · ±10 % brightness/contrast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inference: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two-view TTA hflip · 4-seed softmax-averaged ensemble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11430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0" y="1508760"/>
            <a:ext cx="438912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60020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timm, torch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torch.optim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AdamW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timm.create_model(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'convnextv2_base.fcmae_ft_in22k_in1k_384'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pretrained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num_classes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=4)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8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Stage 1 — head only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model.parameters():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p.requires_grad =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model.head.parameters():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p.requires_grad =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A8A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Stage 2 — unfreeze final stage, cosine LR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model.stages[-1].parameters():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p.requires_grad = </a:t>
            </a:r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 = AdamW(model.parameters(),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=1e-5, </a:t>
            </a:r>
            <a:pPr indent="0" marL="0">
              <a:buNone/>
            </a:pPr>
            <a:r>
              <a:rPr lang="en-US" sz="10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weight_decay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=5e-2)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Held-out Test (n = 1,888)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1280160"/>
                <a:gridCol w="128016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 (95 % CI)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Stone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 (RBF)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  (0.894–0.923)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ConvNeXt V2 Base + TTA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  (0.818–0.856)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EfficientNet-B0 + TTA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  (0.774–0.815)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730752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SVM beats both deep models on macro-F1 by 7–11 percentage points. 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pairwise McNemar's exact tests significant at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10⁻⁶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 is the universal weakest class · Stone → Normal is the dominant failure direction in every model.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Disjoint Failures &amp; Ensemble Lift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patterns differ by paradigm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508760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nearly silent on Cyst → Tumour (0 cases)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11096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819656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ConvNeXt V2 makes 27 Cyst → Tumour errors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0552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makes 17 Cyst → Stone errors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532888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44144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makes 74 Cyst → Stone errors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843784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752344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Disjoint discordant counts: 87 vs 326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32461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SVM wins on this benchmark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11880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138-dim representation is sample-efficient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014216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922776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features resist memorisation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325112"/>
            <a:ext cx="109728" cy="109728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233672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 backbones lose more under residual leakage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754880" y="1143000"/>
            <a:ext cx="3931920" cy="210312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+ EfficientNet-B0  ensemble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83480" y="16459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0.934</a:t>
            </a:r>
            <a:endParaRPr lang="en-US" sz="6400" dirty="0"/>
          </a:p>
        </p:txBody>
      </p:sp>
      <p:sp>
        <p:nvSpPr>
          <p:cNvPr id="25" name="Text 23"/>
          <p:cNvSpPr/>
          <p:nvPr/>
        </p:nvSpPr>
        <p:spPr>
          <a:xfrm>
            <a:off x="4983480" y="2560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 pp</a:t>
            </a:r>
            <a:pPr indent="0" marL="0">
              <a:buNone/>
            </a:pPr>
            <a:r>
              <a:rPr lang="en-US" sz="14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over SVM alone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83480" y="28803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 F1 lifts from 0.799 → 0.871; equal-weight softmax-averaged.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754880" y="3383280"/>
            <a:ext cx="3931920" cy="141732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LIMITATION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83480" y="3703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slice leakage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983480" y="40690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et al. release contains no patient identifiers; 50-slice filename buckets are an approximation, and all metrics are upper-bound estimators of patient-level generalisation.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Preprocessing  ·  load_image()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SHARED INFRASTRUCTURE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model sees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7772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91440" cy="777240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931920" cy="14630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rPr>
                <a:solidFill/>
              </a:rPr>
              <a:t>PIL grayscale convert ('L' mode) — CT is 1-channel intensity</a:t>
            </a:r>
          </a:p>
          <a:p>
            <a:r>
              <a:rPr b="0"/>
              <a:t>Square center-crop to min(w, h) — preserves kidney anatomy</a:t>
            </a:r>
          </a:p>
          <a:p>
            <a:r>
              <a:rPr b="0"/>
              <a:t>Resize to 256 × 256 with bilinear interpolation</a:t>
            </a:r>
          </a:p>
          <a:p>
            <a:r>
              <a:rPr b="0"/>
              <a:t>Return uint8 numpy array — pipeline-specific casts come later</a:t>
            </a:r>
          </a:p>
          <a:p>
            <a:r>
              <a:rPr b="0"/>
              <a:t/>
            </a:r>
          </a:p>
          <a:p>
            <a:r>
              <a:rPr b="0"/>
              <a:t>Same function feeds classical (CLAHE → 138-dim features)</a:t>
            </a:r>
          </a:p>
          <a:p>
            <a:r>
              <a:rPr b="0"/>
              <a:t>and DL (3-channel replication → ImageNet normalise)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91440" cy="14630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spcAft>
                <a:spcPts val="200"/>
              </a:spcAft>
              <a:buNone/>
            </a:pP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11430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·  shared/preprocessing.py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0" y="1508760"/>
            <a:ext cx="438912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6" name="Text 14"/>
          <p:cNvSpPr/>
          <p:nvPr/>
        </p:nvSpPr>
        <p:spPr>
          <a:xfrm>
            <a:off x="4709160" y="160020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PIL import Image</a:t>
            </a:r>
            <a:pPr indent="0" marL="0">
              <a:buNone/>
            </a:pPr>
            <a:endParaRPr lang="en-US" sz="1050" dirty="0"/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import numpy as np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from shared.config import IMAGE_SIZE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/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def load_image(path):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img = Image.open(path).convert('L')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w, h = img.size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m = min(w, h)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left = (w - m) // 2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top  = (h - m) // 2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img = img.crop(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(left, top, left+m, top+m))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img = img.resize(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IMAGE_SIZE, Image.BILINEAR)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return np.asarray(img, dtype=np.uint8)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 Dataset  ·  KidneyCTDataset + transforms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DEEP LEARNING · JAMES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grayscale uint8 → CNN tensor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7772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91440" cy="777240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931920" cy="14630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rPr>
                <a:solidFill/>
              </a:rPr>
              <a:t>1-channel uint8 → 3-channel float tensor in [0, 1]</a:t>
            </a:r>
          </a:p>
          <a:p>
            <a:r>
              <a:rPr b="0"/>
              <a:t>ImageNet mean/std normalisation</a:t>
            </a:r>
          </a:p>
          <a:p>
            <a:r>
              <a:rPr b="0"/>
              <a:t/>
            </a:r>
          </a:p>
          <a:p>
            <a:r>
              <a:rPr b="0"/>
              <a:t>Train-only augmentations:</a:t>
            </a:r>
          </a:p>
          <a:p>
            <a:r>
              <a:rPr b="0"/>
              <a:t>  RandomHorizontalFlip(p=0.5)</a:t>
            </a:r>
          </a:p>
          <a:p>
            <a:r>
              <a:rPr b="0"/>
              <a:t>  RandomAffine(degrees=15)</a:t>
            </a:r>
          </a:p>
          <a:p>
            <a:r>
              <a:rPr b="0"/>
              <a:t>  RandomResizedCrop scale=(0.9, 1.0)</a:t>
            </a:r>
          </a:p>
          <a:p>
            <a:r>
              <a:rPr b="0"/>
              <a:t>  ColorJitter brightness/contrast 0.1</a:t>
            </a:r>
          </a:p>
          <a:p>
            <a:r>
              <a:rPr b="0"/>
              <a:t/>
            </a:r>
          </a:p>
          <a:p>
            <a:r>
              <a:rPr b="0"/>
              <a:t>Val/test transforms are deterministic</a:t>
            </a:r>
          </a:p>
          <a:p>
            <a:r>
              <a:rPr b="0"/>
              <a:t>(resize + normalise only)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91440" cy="14630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spcAft>
                <a:spcPts val="200"/>
              </a:spcAft>
              <a:buNone/>
            </a:pP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11430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·  deep_learning/dataset.py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0" y="1508760"/>
            <a:ext cx="438912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6" name="Text 14"/>
          <p:cNvSpPr/>
          <p:nvPr/>
        </p:nvSpPr>
        <p:spPr>
          <a:xfrm>
            <a:off x="4709160" y="160020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_to_3channel_tensor(arr):</a:t>
            </a:r>
            <a:pPr indent="0" marL="0">
              <a:buNone/>
            </a:pPr>
            <a:endParaRPr lang="en-US" sz="1050" dirty="0"/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t = torch.tensor(arr, dtype=torch.float32) / 255.0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return t.unsqueeze(0).repeat(3, 1, 1)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/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def build_transforms(train, image_size=224):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if train: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return transforms.Compose([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transforms.Lambda(_to_3channel_tensor),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transforms.RandomHorizontalFlip(p=0.5),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transforms.RandomAffine(degrees=15),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transforms.RandomResizedCrop(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    image_size, scale=(0.9, 1.0)),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transforms.ColorJitter(0.1, 0.1),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transforms.Normalize(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    IMAGENET_MEAN, IMAGENET_STD),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])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# eval branch: resize + normalise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 Model Builders  ·  freeze + unfreeze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DEEP LEARNING · JAMES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backbones, one dispatcher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7772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91440" cy="777240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931920" cy="14630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rPr>
                <a:solidFill/>
              </a:rPr>
              <a:t>EfficientNet-B0 (torchvision)</a:t>
            </a:r>
          </a:p>
          <a:p>
            <a:r>
              <a:rPr b="0"/>
              <a:t>  ImageNet-1k weights, classifier head replaced</a:t>
            </a:r>
          </a:p>
          <a:p>
            <a:r>
              <a:rPr b="0"/>
              <a:t/>
            </a:r>
          </a:p>
          <a:p>
            <a:r>
              <a:rPr b="0"/>
              <a:t>ConvNeXt V2 Base (timm)</a:t>
            </a:r>
          </a:p>
          <a:p>
            <a:r>
              <a:rPr b="0"/>
              <a:t>  fcmae_ft_in22k_in1k_384 weights</a:t>
            </a:r>
          </a:p>
          <a:p>
            <a:r>
              <a:rPr b="0"/>
              <a:t>  drop_path_rate=0.3, drop_rate=0.3</a:t>
            </a:r>
          </a:p>
          <a:p>
            <a:r>
              <a:rPr b="0"/>
              <a:t/>
            </a:r>
          </a:p>
          <a:p>
            <a:r>
              <a:rPr b="0"/>
              <a:t>Freeze logic is backbone-aware:</a:t>
            </a:r>
          </a:p>
          <a:p>
            <a:r>
              <a:rPr b="0"/>
              <a:t>  EffNet stages live in model.features</a:t>
            </a:r>
          </a:p>
          <a:p>
            <a:r>
              <a:rPr b="0"/>
              <a:t>  ConvNeXt stages live in model.stages</a:t>
            </a:r>
          </a:p>
          <a:p>
            <a:r>
              <a:rPr b="0"/>
              <a:t>Stage 1 freezes all backbone params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91440" cy="14630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spcAft>
                <a:spcPts val="200"/>
              </a:spcAft>
              <a:buNone/>
            </a:pP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11430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·  deep_learning/model.py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0" y="1508760"/>
            <a:ext cx="438912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6" name="Text 14"/>
          <p:cNvSpPr/>
          <p:nvPr/>
        </p:nvSpPr>
        <p:spPr>
          <a:xfrm>
            <a:off x="4709160" y="160020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build_efficientnet_b0(num_classes=4):</a:t>
            </a:r>
            <a:pPr indent="0" marL="0">
              <a:buNone/>
            </a:pPr>
            <a:endParaRPr lang="en-US" sz="1050" dirty="0"/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w = EfficientNet_B0_Weights.IMAGENET1K_V1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m = efficientnet_b0(weights=w)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in_f = m.classifier[1].in_features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m.classifier = nn.Sequential(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nn.Dropout(p=0.3),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nn.Linear(in_f, num_classes))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return m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/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def build_convnextv2_base(num_classes=4,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              image_size=384):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name = 'convnextv2_base.' + 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'fcmae_ft_in22k_in1k_384'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if image_size &gt;= 384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else 'fcmae_ft_in22k_in1k')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return timm.create_model(name,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pretrained=True,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num_classes=num_classes,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drop_path_rate=0.3, drop_rate=0.3)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 Inference  ·  predict() + TTA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0" y="2926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DEEP LEARNING · JAMES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checkpoint → softmax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7772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91440" cy="777240"/>
          </a:xfrm>
          <a:prstGeom prst="rect">
            <a:avLst/>
          </a:prstGeom>
          <a:solidFill>
            <a:srgbClr val="75948A"/>
          </a:solidFill>
          <a:ln w="12700">
            <a:solidFill>
              <a:srgbClr val="75948A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5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3931920" cy="1463040"/>
          </a:xfrm>
          <a:prstGeom prst="rect">
            <a:avLst/>
          </a:prstGeom>
          <a:solidFill>
            <a:srgbClr val="EDE6D6"/>
          </a:solidFill>
          <a:ln w="12700">
            <a:solidFill>
              <a:srgbClr val="EDE6D6"/>
            </a:solidFill>
            <a:prstDash val="solid"/>
          </a:ln>
        </p:spPr>
        <p:txBody>
          <a:bodyPr/>
          <a:p>
            <a:r>
              <a:rPr>
                <a:solidFill/>
              </a:rPr>
              <a:t>Load best_model.pt into the same builder</a:t>
            </a:r>
          </a:p>
          <a:p>
            <a:r>
              <a:rPr b="0"/>
              <a:t>Forward each batch under torch.no_grad()</a:t>
            </a:r>
          </a:p>
          <a:p>
            <a:r>
              <a:rPr b="0"/>
              <a:t>softmax → argmax for predictions</a:t>
            </a:r>
          </a:p>
          <a:p>
            <a:r>
              <a:rPr b="0"/>
              <a:t>Save y_true, y_pred, y_prob as .npz</a:t>
            </a:r>
          </a:p>
          <a:p>
            <a:r>
              <a:rPr b="0"/>
              <a:t/>
            </a:r>
          </a:p>
          <a:p>
            <a:r>
              <a:rPr b="0"/>
              <a:t>TTA at inference (hflip):</a:t>
            </a:r>
          </a:p>
          <a:p>
            <a:r>
              <a:rPr b="0"/>
              <a:t>  Predict on original + horizontally flipped</a:t>
            </a:r>
          </a:p>
          <a:p>
            <a:r>
              <a:rPr b="0"/>
              <a:t>  Average the two softmax vectors</a:t>
            </a:r>
          </a:p>
          <a:p>
            <a:r>
              <a:rPr b="0"/>
              <a:t>  argmax of the average → final prediction</a:t>
            </a:r>
          </a:p>
          <a:p>
            <a:r>
              <a:rPr b="0"/>
              <a:t/>
            </a:r>
          </a:p>
          <a:p>
            <a:r>
              <a:rPr b="0"/>
              <a:t>Cost: 2× inference time, no retraining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91440" cy="146304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spcAft>
                <a:spcPts val="200"/>
              </a:spcAft>
              <a:buNone/>
            </a:pP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11430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·  predict + TTA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0" y="1508760"/>
            <a:ext cx="4389120" cy="33832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6" name="Text 14"/>
          <p:cNvSpPr/>
          <p:nvPr/>
        </p:nvSpPr>
        <p:spPr>
          <a:xfrm>
            <a:off x="4709160" y="160020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0B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@torch.no_grad()</a:t>
            </a:r>
            <a:pPr indent="0" marL="0">
              <a:buNone/>
            </a:pPr>
            <a:endParaRPr lang="en-US" sz="1050" dirty="0"/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def predict(ckpt, model_name, image_size):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model = build_model(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name=model_name,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image_size=image_size).to(device)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model.load_state_dict(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torch.load(ckpt, map_location=device))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model.eval()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# forward → softmax → argmax (batched)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return {'y_true': y, 'y_pred': p,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'y_prob': probs}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/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# TTA hflip — 2-view averaged softmax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def tta_views_hflip(img_256):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pil = Image.fromarray(img_256, mode='L')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flip = pil.transpose(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Image.FLIP_LEFT_RIGHT)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return [np.asarray(pil),</a:t>
            </a:r>
          </a:p>
          <a:p>
            <a:r>
              <a:rPr sz="1050" b="0">
                <a:solidFill>
                  <a:srgbClr val="F0B27A"/>
                </a:solidFill>
                <a:latin typeface="Courier New"/>
              </a:rPr>
              <a:t>            np.asarray(flip)]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Kidney CT Classification: Comparing Classical ML and Deep Learning</dc:title>
  <dc:subject>PptxGenJS Presentation</dc:subject>
  <dc:creator>Anthony Lee &amp; James Wu</dc:creator>
  <cp:lastModifiedBy>Anthony Lee &amp; James Wu</cp:lastModifiedBy>
  <cp:revision>1</cp:revision>
  <dcterms:created xsi:type="dcterms:W3CDTF">2026-05-26T04:36:15Z</dcterms:created>
  <dcterms:modified xsi:type="dcterms:W3CDTF">2026-05-26T04:36:15Z</dcterms:modified>
</cp:coreProperties>
</file>