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BMET5933 · ASSIGNMENT 2 · DEMONSTRATION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CT Classification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Classical Machine Learning and Deep Learning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Lee</a:t>
            </a:r>
            <a:pPr indent="0" marL="0">
              <a:buNone/>
            </a:pPr>
            <a:r>
              <a:rPr lang="en-US" sz="1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4069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et al. 2022 kidney CT benchmark · 11,929 images · 4 classes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Split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292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SHARED INFRASTRUCTURE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3383280"/>
          </a:xfrm>
          <a:prstGeom prst="rect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11,929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after dedup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46888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images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benchmark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581912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10912" y="1490472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et al. 2022 · 12,446 abdominal CT slices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911096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10912" y="1819656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removed 512 duplicate slices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10912" y="2148840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Cyst, Normal, Stone, Tumour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strategy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273552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10912" y="3182112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class (≈41/30/18/11 %)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602736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10912" y="3511296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50-slice filename buckets as pseudo-patients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931920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10912" y="3840480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touched once per final model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292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SHARED INFRASTRUCTURE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preprocessing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55448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via PIL, grayscale convert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56816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86537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center-crop, resize 256 × 256 bilinear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13232" y="2176272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inputs to both pipelines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2487168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Per-pipeline transforms downstream: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3232" y="2798064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CLAHE (classical)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3232" y="310896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ImageNet-stat normalise + 3-channel (DL)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27432" cy="33832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102352" y="1554480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primary metric (4-class imbalance)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956816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02352" y="186537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recall, F1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267712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02352" y="2176272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95 % CI, 1,000 replicates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578608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102352" y="2487168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McNemar's exact binomial test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889504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102352" y="279806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one-vs-rest ROC-AUC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4360" y="44622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CPU for classical training · NVIDIA A100 / H100 in bfloat16 for deep learning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292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CLASSICAL ML · ANTHONY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247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138-dim handcrafted feature vector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256 × 256 grayscale image, computed after CLAHE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12801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928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statistics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2402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skewness, kurtosis, entropy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– 90th percentile of intensity distribution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783080"/>
            <a:ext cx="73152" cy="12801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8928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· Haralick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22402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1, 3 px · four angles (0°/45°/90°/135°)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properties averaged for rotation invariance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46120"/>
            <a:ext cx="73152" cy="12801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3558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· Multi-scale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37033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radii R = 1, 2, 3 with P = 8, 16, 24 neighbours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· medium · coarse local texture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46120"/>
            <a:ext cx="73152" cy="12801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3558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 filter bank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64608" y="37033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frequencies (0.1 – 0.4) × four orientations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std of magnitude response — 32 features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raw radiodensity features (pre-CLAHE) and 5 bright-region morphological features round out the 138-dim vector.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Model Selection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292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CLASSICAL ML · ANTHONY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08760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fitted on train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11096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19656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/ poly / linear) and Random Forest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055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41448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BorderlineSMOTE-1 for RF  (k = 5, m = 10)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52344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CV, macro-F1 selection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931920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584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RBF-kernel SVM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4041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1000,   γ = 0.001       (retrained on train + val)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1143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1508760"/>
            <a:ext cx="438912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00200"/>
            <a:ext cx="4114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sklearn.svm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SVC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sklearn.preprocessing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StandardScaler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imblearn.over_sampling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BorderlineSMOTE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StandardScaler().fit_transform(X_train)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Borderline-SMOTE only for the RF baseline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= BorderlineSMOTE(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k_neighbors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=5, 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m_neighbors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Xb, yb = sm.fit_resample(Xs, y_train)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Grid-search winner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 = SVC(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'rbf'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=1000, 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=0.001,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'balanced'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svm.fit(Xs, y_train)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Selection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292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DEEP LEARNING · JAMES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V2 Base · Primary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M parameters · 384 × 384 input
ImageNet-22k → 1k pretrained · 87.7 % top-1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CNN: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depthwise-sep convs · 7 × 7 kernels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· GELU · MAE pretraining · GRN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43000"/>
            <a:ext cx="4023360" cy="411480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· Control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 parameters · 224 × 224 input
ImageNet-1k pretrained · 77.3 % top-1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Compound-scaled baseline: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× pretraining effect on the same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and protocol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0448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3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STRONG IMAGENET SOURCE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Kornblith et al. report Pearson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0.96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Spearman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0.94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between ImageNet top-1 and downstream transfer macro-F1 — the relationship holds under both linear and rank-based tests.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Transfer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292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DEEP LEARNING · JAMES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protocol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777240"/>
          </a:xfrm>
          <a:prstGeom prst="rect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91440" cy="777240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HEAD WARMUP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frozen · 5 epochs · Adam @ 1e-3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1463040"/>
          </a:xfrm>
          <a:prstGeom prst="rect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91440" cy="1463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23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FINE-TUNE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stage unfrozen · 60 epochs · AdamW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LR, 5-ep warmup, peak 1e-5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5e-2 (ConvNeXt) / 1e-4 (EffNet)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Inverse-frequency class weights (Stone ≈3.7× Normal)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hflip · ±15° rot · ±10 % brightness/contrast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inference: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two-view TTA hflip · 4-seed softmax-averaged ensemble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1143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38912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002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timm, torch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torch.optim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AdamW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timm.create_model(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'convnextv2_base.fcmae_ft_in22k_in1k_384'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pretrained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num_classes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=4)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 — head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model.parameters():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p.requires_grad =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model.head.parameters():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p.requires_grad =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 — unfreeze final stage, cosine LR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model.stages[-1].parameters():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p.requires_grad = </a:t>
            </a:r>
            <a:pPr indent="0" marL="0"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= AdamW(model.parameters(),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=1e-5, </a:t>
            </a:r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weight_decay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=5e-2)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Held-out Test (n = 1,888)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292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128016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 (95 % CI)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 (RBF)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  (0.894–0.923)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 V2 Base + TTA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  (0.818–0.856)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+ TTA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  (0.774–0.815)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730752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3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SVM beats both deep models on macro-F1 by 7–11 percentage points.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pairwise McNemar's exact tests significant at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10⁻⁶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is the universal weakest class · Stone → Normal is the dominant failure direction in every model.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Disjoint Failures &amp; Ensemble Lift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0" y="292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patterns differ by paradigm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0876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nearly silent on Cyst → Tumour (0 cases)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11096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1965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V2 makes 27 Cyst → Tumour errors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0552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makes 17 Cyst → Stone errors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41448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makes 74 Cyst → Stone errors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52344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discordant counts: 87 vs 326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SVM wins on this benchmark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61188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138-dim representation is sample-efficient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014216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92277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features resist memorisation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325112"/>
            <a:ext cx="109728" cy="109728"/>
          </a:xfrm>
          <a:prstGeom prst="rect">
            <a:avLst/>
          </a:prstGeom>
          <a:solidFill>
            <a:srgbClr val="75948A"/>
          </a:solidFill>
          <a:ln w="12700">
            <a:solidFill>
              <a:srgbClr val="7594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233672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backbones lose more under residual leakage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3931920" cy="2103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EfficientNet-B0  ensemble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1645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498348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 pp</a:t>
            </a:r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 SVM alone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F1 lifts from 0.799 → 0.871; equal-weight softmax-averaged.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383280"/>
            <a:ext cx="3931920" cy="1417320"/>
          </a:xfrm>
          <a:prstGeom prst="rect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5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LIMITATION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slice leakage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8348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et al. release contains no patient identifiers; 50-slice filename buckets are an approximation, and all metrics are upper-bound estimators of patient-level generalisation.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Kidney CT Classification: Comparing Classical ML and Deep Learning</dc:title>
  <dc:subject>PptxGenJS Presentation</dc:subject>
  <dc:creator>Anthony Lee &amp; James Wu</dc:creator>
  <cp:lastModifiedBy>Anthony Lee &amp; James Wu</cp:lastModifiedBy>
  <cp:revision>1</cp:revision>
  <dcterms:created xsi:type="dcterms:W3CDTF">2026-05-26T04:36:15Z</dcterms:created>
  <dcterms:modified xsi:type="dcterms:W3CDTF">2026-05-26T04:36:15Z</dcterms:modified>
</cp:coreProperties>
</file>